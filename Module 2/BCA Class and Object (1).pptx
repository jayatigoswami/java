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39" r:id="rId19"/>
    <p:sldId id="340" r:id="rId20"/>
    <p:sldId id="341" r:id="rId21"/>
    <p:sldId id="345" r:id="rId22"/>
    <p:sldId id="342" r:id="rId23"/>
    <p:sldId id="346" r:id="rId24"/>
    <p:sldId id="349" r:id="rId25"/>
    <p:sldId id="344" r:id="rId26"/>
    <p:sldId id="347" r:id="rId27"/>
    <p:sldId id="348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3" r:id="rId36"/>
    <p:sldId id="295" r:id="rId37"/>
    <p:sldId id="303" r:id="rId38"/>
    <p:sldId id="307" r:id="rId39"/>
    <p:sldId id="304" r:id="rId40"/>
    <p:sldId id="305" r:id="rId41"/>
    <p:sldId id="306" r:id="rId42"/>
    <p:sldId id="308" r:id="rId43"/>
    <p:sldId id="309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296" r:id="rId55"/>
    <p:sldId id="298" r:id="rId56"/>
    <p:sldId id="310" r:id="rId57"/>
    <p:sldId id="311" r:id="rId58"/>
    <p:sldId id="312" r:id="rId59"/>
    <p:sldId id="314" r:id="rId60"/>
    <p:sldId id="313" r:id="rId61"/>
    <p:sldId id="319" r:id="rId62"/>
    <p:sldId id="315" r:id="rId63"/>
    <p:sldId id="316" r:id="rId64"/>
    <p:sldId id="318" r:id="rId65"/>
    <p:sldId id="317" r:id="rId66"/>
    <p:sldId id="323" r:id="rId67"/>
    <p:sldId id="322" r:id="rId68"/>
    <p:sldId id="324" r:id="rId69"/>
    <p:sldId id="325" r:id="rId70"/>
    <p:sldId id="326" r:id="rId71"/>
    <p:sldId id="328" r:id="rId72"/>
    <p:sldId id="327" r:id="rId73"/>
    <p:sldId id="297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1ECA8-EDA1-4AAA-B7DB-C35621B32CE5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0D030-3DC4-46C2-915F-0EDB2B620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891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40D030-3DC4-46C2-915F-0EDB2B620AB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28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40D030-3DC4-46C2-915F-0EDB2B620AB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425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40D030-3DC4-46C2-915F-0EDB2B620AB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655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40D030-3DC4-46C2-915F-0EDB2B620ABB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447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40D030-3DC4-46C2-915F-0EDB2B620ABB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195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40D030-3DC4-46C2-915F-0EDB2B620ABB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10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892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4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1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56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54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3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0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53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59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05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7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14464-5188-4B4F-B0AB-41AF97683313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D95EE-5964-4294-BE94-547345F0C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95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Class and Object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09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Class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5409"/>
            <a:ext cx="10515600" cy="4351338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is a logical entity because when we are creating a class then memory will not be created for a class.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is a collection of data members, constructors, methods and blocks.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-104933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is a collection of objects of same type.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119920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Objects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a physical entity because when we are creating object then memory will be allocated for object.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created with the help of new keyword.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119920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7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the instance of a class.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44968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2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Java, a constructor is a block of codes similar to the method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called when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created.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of calling constructor, memory for the object is allocated in the memory.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604" y="8993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1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be used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initialize the object.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8993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8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Rules for creating Java constructor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name must be the same as its class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 constructor cannot be abstract, static, final, and synchronized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8993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7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Java </a:t>
            </a:r>
            <a:r>
              <a:rPr lang="en-IN" b="1" dirty="0" smtClean="0"/>
              <a:t>Constructors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3 Types of constructors.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efault Constructor.</a:t>
            </a:r>
          </a:p>
          <a:p>
            <a:pPr lvl="1"/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onstructor.</a:t>
            </a:r>
          </a:p>
          <a:p>
            <a:pPr lvl="1"/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93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Default </a:t>
            </a:r>
            <a:r>
              <a:rPr lang="en-IN" sz="44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Constructor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constructor in a class, compiler automatically creates a default constructor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7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90" y="365125"/>
            <a:ext cx="10515600" cy="1325563"/>
          </a:xfrm>
        </p:spPr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pic>
        <p:nvPicPr>
          <p:cNvPr id="1026" name="Picture 2" descr="Java default constructor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21" y="2170370"/>
            <a:ext cx="9758597" cy="426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1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629587" y="1522384"/>
            <a:ext cx="1047812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public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 a[])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Student s1=new Student();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(s1.id);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}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1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44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No-argument </a:t>
            </a:r>
            <a:r>
              <a:rPr lang="en-IN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Constructor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constructor that has no parameter is known </a:t>
            </a:r>
            <a:r>
              <a:rPr lang="en-IN" dirty="0" smtClean="0"/>
              <a:t>as no-argument constructor.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1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299803" y="1529560"/>
            <a:ext cx="112875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Bike()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("Bike is created");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a[])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Bike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b=new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Bike(); 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is created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4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Parameterized </a:t>
            </a:r>
            <a:r>
              <a:rPr lang="en-IN" sz="44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Constructor</a:t>
            </a:r>
            <a:endParaRPr lang="en-IN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which has a specific number of parameters is called a parameterized constructor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1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9882" y="335846"/>
            <a:ext cx="1061303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String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id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name = n;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(id);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a[])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Student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= new Student(111,"Karan");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s1.display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20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Output: </a:t>
            </a:r>
          </a:p>
          <a:p>
            <a:pPr marL="0" indent="0">
              <a:buNone/>
            </a:pPr>
            <a:r>
              <a:rPr lang="en-IN" dirty="0"/>
              <a:t>111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Karan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3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/>
              <a:t/>
            </a:r>
            <a:br>
              <a:rPr lang="en-US" sz="4900" b="1" dirty="0" smtClean="0"/>
            </a:br>
            <a:r>
              <a:rPr lang="en-US" sz="4900" b="1" dirty="0" smtClean="0"/>
              <a:t>Difference between constructor and method in Java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7141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267399"/>
              </p:ext>
            </p:extLst>
          </p:nvPr>
        </p:nvGraphicFramePr>
        <p:xfrm>
          <a:off x="838200" y="1825625"/>
          <a:ext cx="10515600" cy="459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487647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60737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38696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Constructor is </a:t>
                      </a:r>
                      <a:r>
                        <a:rPr lang="en-IN" sz="24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</a:t>
                      </a:r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implicitly by the system.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Method is </a:t>
                      </a:r>
                      <a:r>
                        <a:rPr lang="en-IN" sz="24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</a:t>
                      </a:r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the programmer.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36508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Constructor is </a:t>
                      </a:r>
                      <a:r>
                        <a:rPr lang="en-IN" sz="24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</a:t>
                      </a:r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 object is created using the keyword </a:t>
                      </a: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Method is </a:t>
                      </a:r>
                      <a:r>
                        <a:rPr lang="en-IN" sz="24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</a:t>
                      </a:r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 method calls.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82643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Constructor’s name must be same as the name of the class.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Method’s name can be anything.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9296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Constructor doesn’t have a return type.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Method must have a return type.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07035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666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8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Ways to initialize object: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There are 3 ways to initialize object in Java.</a:t>
            </a:r>
          </a:p>
          <a:p>
            <a:endParaRPr lang="en-US" dirty="0" smtClean="0"/>
          </a:p>
          <a:p>
            <a:r>
              <a:rPr lang="en-US" dirty="0" smtClean="0"/>
              <a:t>By reference variable</a:t>
            </a:r>
          </a:p>
          <a:p>
            <a:r>
              <a:rPr lang="en-US" dirty="0" smtClean="0"/>
              <a:t>By method</a:t>
            </a:r>
          </a:p>
          <a:p>
            <a:r>
              <a:rPr lang="en-US" dirty="0" smtClean="0"/>
              <a:t>By constructor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4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271"/>
            <a:ext cx="10515600" cy="1524000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/>
              <a:t>1) Initializing an </a:t>
            </a:r>
            <a:r>
              <a:rPr lang="en-US" sz="4900" b="1" dirty="0"/>
              <a:t>Object by reference variable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3889"/>
            <a:ext cx="10515600" cy="51206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an object means storing data into the object.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0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1997839"/>
            <a:ext cx="8839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 Student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id;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public static void main(String a[])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Student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new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Student();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s1.id=101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(s1.id);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45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b="1" dirty="0" smtClean="0"/>
              <a:t>2) </a:t>
            </a:r>
            <a:r>
              <a:rPr lang="en-US" b="1" dirty="0"/>
              <a:t>Initializing an </a:t>
            </a:r>
            <a:r>
              <a:rPr lang="en-US" b="1" dirty="0" smtClean="0"/>
              <a:t>Object by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4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US" sz="6000" b="1" dirty="0"/>
          </a:p>
        </p:txBody>
      </p:sp>
      <p:sp>
        <p:nvSpPr>
          <p:cNvPr id="7" name="Rectangle 6"/>
          <p:cNvSpPr/>
          <p:nvPr/>
        </p:nvSpPr>
        <p:spPr>
          <a:xfrm>
            <a:off x="357809" y="1536174"/>
            <a:ext cx="8786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 Student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id; 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oid  display(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id = n;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(id);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public static void main(String a[])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   Student s1=new Student();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 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s1.display(101);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89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Output: </a:t>
            </a:r>
          </a:p>
          <a:p>
            <a:pPr marL="0" indent="0">
              <a:buNone/>
            </a:pPr>
            <a:r>
              <a:rPr lang="en-IN" dirty="0" smtClean="0"/>
              <a:t>101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3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3) </a:t>
            </a:r>
            <a:r>
              <a:rPr lang="en-US" b="1" dirty="0"/>
              <a:t>Initializing an</a:t>
            </a:r>
            <a:r>
              <a:rPr lang="en-US" b="1" dirty="0" smtClean="0"/>
              <a:t> </a:t>
            </a:r>
            <a:r>
              <a:rPr lang="en-US" b="1" dirty="0"/>
              <a:t>Object by</a:t>
            </a:r>
            <a:r>
              <a:rPr lang="en-US" b="1" dirty="0" smtClean="0"/>
              <a:t> a constructor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16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756" y="20573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764" y="335846"/>
            <a:ext cx="10700153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id;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id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(id);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a[])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Student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= new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Student(101);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s1.display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Output: </a:t>
            </a:r>
          </a:p>
          <a:p>
            <a:pPr marL="0" indent="0">
              <a:buNone/>
            </a:pPr>
            <a:r>
              <a:rPr lang="en-IN" dirty="0" smtClean="0"/>
              <a:t>101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64" y="89932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6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Java static keyword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keyword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Java is used for memory management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mainly.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apply static keyword with variables,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blocks etc.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5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can be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(also known as a class variable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(also known as a class method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7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1) Java static variable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declare any variable as static, it is known as a static variable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variable can be used to refer to the common property of all objects (which is not unique for each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object).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students, etc.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6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variable gets memory only once in the class area at the time of class loading.</a:t>
            </a:r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5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Advantage </a:t>
            </a:r>
            <a:r>
              <a:rPr lang="en-IN" b="1" dirty="0"/>
              <a:t>of static variable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your program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(i.e., it saves memory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6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900" b="1" dirty="0" smtClean="0"/>
              <a:t>Example: Understanding </a:t>
            </a:r>
            <a:r>
              <a:rPr lang="en-IN" sz="4900" b="1" dirty="0"/>
              <a:t>the problem without static variable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24656" y="1265229"/>
            <a:ext cx="86193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String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Student(String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c;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display ()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 a[])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Student s1 = new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Student("GLAU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Student s2 = new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Student("GLAU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s1.display();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s2.display();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}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8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5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 </a:t>
            </a:r>
            <a:r>
              <a:rPr lang="en-IN" b="1" dirty="0"/>
              <a:t>of static variable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9862" y="1047555"/>
            <a:ext cx="893413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static String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=“GLAU";//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variable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a[])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Student s1 = new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Student();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Student s2 = new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Student();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s1.display();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s2.display();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1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17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2) Java static method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apply static keyword with any method, it is known as static method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static method can be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 need for creating an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(object)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class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8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Restrictions for the static method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restrictions for the static method. They are: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method can not use non static data member or call non-static method directly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and super cannot be used in static context.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9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/>
              <a:t>Example of static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259837" y="1286763"/>
            <a:ext cx="710033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static void display()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Method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A.display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} 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3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Output: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Static Method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9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3) Java static block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initialize the static data member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executed before the main method at the time 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loading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1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4890" y="284813"/>
            <a:ext cx="10515600" cy="1405875"/>
          </a:xfrm>
        </p:spPr>
        <p:txBody>
          <a:bodyPr/>
          <a:lstStyle/>
          <a:p>
            <a:r>
              <a:rPr lang="en-IN" b="1" dirty="0"/>
              <a:t>Example of static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4459" y="1859340"/>
            <a:ext cx="831954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static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("static block");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a[])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main");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} 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block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main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0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this keyword in java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 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variable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refers to the current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object.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674" y="89937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7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Usage of java this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usage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java this keyword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used to refer current class instance variable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this() can be used to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class constructor.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574" y="104928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4400" b="1" dirty="0">
                <a:latin typeface="+mj-lt"/>
              </a:rPr>
              <a:t>1) this: to refer current class instance variable</a:t>
            </a:r>
            <a:br>
              <a:rPr lang="en-IN" sz="4400" b="1" dirty="0">
                <a:latin typeface="+mj-lt"/>
              </a:rPr>
            </a:br>
            <a:r>
              <a:rPr lang="en-IN" sz="4400" b="1" dirty="0" smtClean="0">
                <a:latin typeface="+mj-lt"/>
              </a:rPr>
              <a:t/>
            </a:r>
            <a:br>
              <a:rPr lang="en-IN" sz="4400" b="1" dirty="0" smtClean="0">
                <a:latin typeface="+mj-lt"/>
              </a:rPr>
            </a:br>
            <a:endParaRPr lang="en-IN" sz="4400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refer current class instance variable. 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ambiguity between the instance variables and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(local variable),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resolves the problem of ambiguity.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562" y="179885"/>
            <a:ext cx="700831" cy="7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5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 smtClean="0"/>
              <a:t>Example: Problem </a:t>
            </a:r>
            <a:r>
              <a:rPr lang="en-IN" b="1" dirty="0"/>
              <a:t>without this keyword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9882" y="1017575"/>
            <a:ext cx="896411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Student(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x;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y;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display()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a[])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Student s1=new Student(10,20);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s1.display();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04928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6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0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89937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6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Ex: Solution of Previous Problem with this </a:t>
            </a:r>
            <a:r>
              <a:rPr lang="en-IN" b="1" dirty="0"/>
              <a:t>keyword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9882" y="1017575"/>
            <a:ext cx="896411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Student(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this.x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this.y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display()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(y);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 a[])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Student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s1=new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Student(10,20);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s1.display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04928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20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89937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4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</a:t>
            </a:r>
            <a:r>
              <a:rPr lang="en-IN" b="1" dirty="0" smtClean="0"/>
              <a:t>) </a:t>
            </a:r>
            <a:r>
              <a:rPr lang="en-IN" b="1" dirty="0"/>
              <a:t>this() : to </a:t>
            </a:r>
            <a:r>
              <a:rPr lang="en-IN" b="1" dirty="0" smtClean="0"/>
              <a:t>call </a:t>
            </a:r>
            <a:r>
              <a:rPr lang="en-IN" b="1" dirty="0"/>
              <a:t>current class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this()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used to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class constructor. 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to this() must be the first statement in constructor.</a:t>
            </a: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967" y="140275"/>
            <a:ext cx="1435346" cy="90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8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89977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 1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4793" y="1916346"/>
            <a:ext cx="1020080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this(50);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("hello a");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public static void main(String a1[])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a=new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A();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534" y="119917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a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54" y="134907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7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Inheritance in Java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is a process to inherit the property of one class (super class or parent class) into another class (sub class or child class) is called Inheritance.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9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xtends keyword will be used to inherit the property of one class into another class.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of Java </a:t>
            </a: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       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  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 and fields  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endParaRPr lang="en-IN" dirty="0"/>
          </a:p>
        </p:txBody>
      </p:sp>
      <p:grpSp>
        <p:nvGrpSpPr>
          <p:cNvPr id="9" name="Group 8"/>
          <p:cNvGrpSpPr/>
          <p:nvPr/>
        </p:nvGrpSpPr>
        <p:grpSpPr>
          <a:xfrm>
            <a:off x="9293896" y="3432751"/>
            <a:ext cx="1816309" cy="2670740"/>
            <a:chOff x="7405141" y="3777521"/>
            <a:chExt cx="1816309" cy="2670740"/>
          </a:xfrm>
        </p:grpSpPr>
        <p:sp>
          <p:nvSpPr>
            <p:cNvPr id="4" name="Rectangle 3"/>
            <p:cNvSpPr/>
            <p:nvPr/>
          </p:nvSpPr>
          <p:spPr>
            <a:xfrm>
              <a:off x="7405141" y="3777521"/>
              <a:ext cx="1753849" cy="719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A</a:t>
              </a:r>
              <a:endParaRPr lang="en-IN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7467601" y="5728733"/>
              <a:ext cx="1753849" cy="719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B</a:t>
              </a:r>
              <a:endParaRPr lang="en-IN" dirty="0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8282065" y="4497049"/>
              <a:ext cx="0" cy="12316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2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inheritance in java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basis of class, there can be three types of inheritance in java: single, multilevel and hierarchical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 programming, multiple and hybrid inheritance is supported through interface only. 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is not supported in Java through class.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6488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1. Single </a:t>
            </a:r>
            <a:r>
              <a:rPr lang="en-IN" b="1" dirty="0"/>
              <a:t>Inheritance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class inherits another class, it is known as a single inheritance.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006714" y="3327818"/>
            <a:ext cx="1816309" cy="2460880"/>
            <a:chOff x="7405141" y="3777521"/>
            <a:chExt cx="1816309" cy="2460880"/>
          </a:xfrm>
        </p:grpSpPr>
        <p:sp>
          <p:nvSpPr>
            <p:cNvPr id="6" name="Rectangle 5"/>
            <p:cNvSpPr/>
            <p:nvPr/>
          </p:nvSpPr>
          <p:spPr>
            <a:xfrm>
              <a:off x="7405141" y="3777521"/>
              <a:ext cx="1753849" cy="719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A</a:t>
              </a:r>
              <a:endParaRPr lang="en-IN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467601" y="5518873"/>
              <a:ext cx="1753849" cy="719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B</a:t>
              </a:r>
              <a:endParaRPr lang="en-IN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8282065" y="4497049"/>
              <a:ext cx="0" cy="1021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0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84615" y="1212446"/>
            <a:ext cx="881421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display()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A");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B");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a[])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B b1 = new B();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b1.display();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b1.printf();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2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0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Multilevel Inheritance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a chain of inheritance, it is known as multilevel inheritance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you can see in the example given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 slide, 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inherits the B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which again inherits the C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class, so there is a multilevel inheritance.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4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5006714" y="1888769"/>
            <a:ext cx="1816309" cy="4142271"/>
            <a:chOff x="5006714" y="1888769"/>
            <a:chExt cx="1816309" cy="4142271"/>
          </a:xfrm>
        </p:grpSpPr>
        <p:grpSp>
          <p:nvGrpSpPr>
            <p:cNvPr id="4" name="Group 3"/>
            <p:cNvGrpSpPr/>
            <p:nvPr/>
          </p:nvGrpSpPr>
          <p:grpSpPr>
            <a:xfrm>
              <a:off x="5006714" y="1888769"/>
              <a:ext cx="1816309" cy="2460880"/>
              <a:chOff x="7405141" y="3777521"/>
              <a:chExt cx="1816309" cy="246088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7405141" y="3777521"/>
                <a:ext cx="1753849" cy="7195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/>
                  <a:t>A</a:t>
                </a:r>
                <a:endParaRPr lang="en-IN" dirty="0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7467601" y="5518873"/>
                <a:ext cx="1753849" cy="7195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/>
                  <a:t>B</a:t>
                </a:r>
                <a:endParaRPr lang="en-IN" dirty="0"/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>
                <a:off x="8282065" y="4497049"/>
                <a:ext cx="0" cy="10218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 7"/>
            <p:cNvSpPr/>
            <p:nvPr/>
          </p:nvSpPr>
          <p:spPr>
            <a:xfrm>
              <a:off x="5056684" y="5311512"/>
              <a:ext cx="1753849" cy="719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871148" y="4289690"/>
              <a:ext cx="0" cy="1021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8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84615" y="1212446"/>
            <a:ext cx="881421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display()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A");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B");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830" y="365125"/>
            <a:ext cx="10515600" cy="1325563"/>
          </a:xfrm>
        </p:spPr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54830" y="1582341"/>
            <a:ext cx="888917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C");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a[])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c1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new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C();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c1.display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c1.printf();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c1.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2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Hierarchical Inheritance</a:t>
            </a:r>
            <a:r>
              <a:rPr lang="en-IN" dirty="0"/>
              <a:t/>
            </a:r>
            <a:br>
              <a:rPr lang="en-IN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or more classes inherits a single class, it is known as hierarchical inheritance.</a:t>
            </a:r>
            <a:r>
              <a:rPr lang="en-IN" dirty="0"/>
              <a:t> 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810003" y="3327818"/>
            <a:ext cx="4904275" cy="2460880"/>
            <a:chOff x="3810003" y="3327818"/>
            <a:chExt cx="4904275" cy="2460880"/>
          </a:xfrm>
        </p:grpSpPr>
        <p:grpSp>
          <p:nvGrpSpPr>
            <p:cNvPr id="4" name="Group 3"/>
            <p:cNvGrpSpPr/>
            <p:nvPr/>
          </p:nvGrpSpPr>
          <p:grpSpPr>
            <a:xfrm>
              <a:off x="3810003" y="3327818"/>
              <a:ext cx="4904275" cy="2460880"/>
              <a:chOff x="3810003" y="3327818"/>
              <a:chExt cx="4904275" cy="2460880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3810003" y="3327818"/>
                <a:ext cx="2950560" cy="2460880"/>
                <a:chOff x="6208430" y="3777521"/>
                <a:chExt cx="2950560" cy="2460880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7405141" y="3777521"/>
                  <a:ext cx="1753849" cy="7195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 smtClean="0"/>
                    <a:t>A</a:t>
                  </a:r>
                  <a:endParaRPr lang="en-IN" dirty="0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6208430" y="5518873"/>
                  <a:ext cx="1753849" cy="7195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 smtClean="0"/>
                    <a:t>B</a:t>
                  </a:r>
                  <a:endParaRPr lang="en-IN" dirty="0"/>
                </a:p>
              </p:txBody>
            </p:sp>
          </p:grpSp>
          <p:sp>
            <p:nvSpPr>
              <p:cNvPr id="13" name="Rectangle 12"/>
              <p:cNvSpPr/>
              <p:nvPr/>
            </p:nvSpPr>
            <p:spPr>
              <a:xfrm>
                <a:off x="6960429" y="5026700"/>
                <a:ext cx="1753849" cy="7195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/>
                  <a:t>C</a:t>
                </a:r>
                <a:endParaRPr lang="en-IN" dirty="0"/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6565692" y="4047346"/>
                <a:ext cx="884419" cy="9793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Arrow Connector 29"/>
            <p:cNvCxnSpPr/>
            <p:nvPr/>
          </p:nvCxnSpPr>
          <p:spPr>
            <a:xfrm flipH="1">
              <a:off x="5006714" y="4068581"/>
              <a:ext cx="557140" cy="10005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786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584615" y="1212446"/>
            <a:ext cx="881421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display()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A");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B");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7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830" y="365125"/>
            <a:ext cx="10515600" cy="1325563"/>
          </a:xfrm>
        </p:spPr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54830" y="1582341"/>
            <a:ext cx="888917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("Class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C");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a[])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c1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new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C();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c1.display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c1.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3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Multiple</a:t>
            </a:r>
            <a:r>
              <a:rPr lang="en-IN" dirty="0"/>
              <a:t> </a:t>
            </a:r>
            <a:r>
              <a:rPr lang="en-IN" b="1" dirty="0" smtClean="0"/>
              <a:t>Inheritance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class inherits multiple classes, it is known as multiple inheritance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is not supported in Java through class.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56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4032355" y="2548326"/>
            <a:ext cx="3989882" cy="2508356"/>
            <a:chOff x="4227225" y="3237872"/>
            <a:chExt cx="3989882" cy="2508356"/>
          </a:xfrm>
        </p:grpSpPr>
        <p:grpSp>
          <p:nvGrpSpPr>
            <p:cNvPr id="11" name="Group 10"/>
            <p:cNvGrpSpPr/>
            <p:nvPr/>
          </p:nvGrpSpPr>
          <p:grpSpPr>
            <a:xfrm>
              <a:off x="4227225" y="3237872"/>
              <a:ext cx="3989882" cy="2508356"/>
              <a:chOff x="4227225" y="3237872"/>
              <a:chExt cx="3989882" cy="2508356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4227225" y="3237872"/>
                <a:ext cx="3989882" cy="781994"/>
                <a:chOff x="6625652" y="3687575"/>
                <a:chExt cx="3989882" cy="781994"/>
              </a:xfrm>
            </p:grpSpPr>
            <p:sp>
              <p:nvSpPr>
                <p:cNvPr id="16" name="Rectangle 15"/>
                <p:cNvSpPr/>
                <p:nvPr/>
              </p:nvSpPr>
              <p:spPr>
                <a:xfrm>
                  <a:off x="6625652" y="3687575"/>
                  <a:ext cx="1753849" cy="7195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 smtClean="0"/>
                    <a:t>A</a:t>
                  </a:r>
                  <a:endParaRPr lang="en-IN" dirty="0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8861685" y="3750041"/>
                  <a:ext cx="1753849" cy="7195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 smtClean="0"/>
                    <a:t>B</a:t>
                  </a:r>
                  <a:endParaRPr lang="en-IN" dirty="0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5326505" y="5026700"/>
                <a:ext cx="1753849" cy="7195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/>
                  <a:t>C</a:t>
                </a:r>
                <a:endParaRPr lang="en-IN" dirty="0"/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>
                <a:off x="5441428" y="3958101"/>
                <a:ext cx="284812" cy="106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/>
            <p:cNvCxnSpPr/>
            <p:nvPr/>
          </p:nvCxnSpPr>
          <p:spPr>
            <a:xfrm flipH="1">
              <a:off x="6463258" y="4052344"/>
              <a:ext cx="550902" cy="9743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233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Hybrid inheritance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inheritance is a combination of more than one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inheritance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is not supported in Java through class.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7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9988"/>
          </a:xfrm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1"/>
          <p:cNvGrpSpPr/>
          <p:nvPr/>
        </p:nvGrpSpPr>
        <p:grpSpPr>
          <a:xfrm>
            <a:off x="3810003" y="2098623"/>
            <a:ext cx="4904275" cy="2460884"/>
            <a:chOff x="3810003" y="3327814"/>
            <a:chExt cx="4904275" cy="2460884"/>
          </a:xfrm>
        </p:grpSpPr>
        <p:grpSp>
          <p:nvGrpSpPr>
            <p:cNvPr id="13" name="Group 12"/>
            <p:cNvGrpSpPr/>
            <p:nvPr/>
          </p:nvGrpSpPr>
          <p:grpSpPr>
            <a:xfrm>
              <a:off x="3810003" y="3327814"/>
              <a:ext cx="4904275" cy="2460884"/>
              <a:chOff x="3810003" y="3327814"/>
              <a:chExt cx="4904275" cy="246088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3810003" y="3327814"/>
                <a:ext cx="2950560" cy="2460884"/>
                <a:chOff x="6208430" y="3777517"/>
                <a:chExt cx="2950560" cy="2460884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7405141" y="3777517"/>
                  <a:ext cx="1753849" cy="7195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 smtClean="0"/>
                    <a:t>A</a:t>
                  </a:r>
                  <a:endParaRPr lang="en-IN" dirty="0"/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6208430" y="5518873"/>
                  <a:ext cx="1753849" cy="7195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 smtClean="0"/>
                    <a:t>B</a:t>
                  </a:r>
                  <a:endParaRPr lang="en-IN" dirty="0"/>
                </a:p>
              </p:txBody>
            </p:sp>
          </p:grpSp>
          <p:sp>
            <p:nvSpPr>
              <p:cNvPr id="16" name="Rectangle 15"/>
              <p:cNvSpPr/>
              <p:nvPr/>
            </p:nvSpPr>
            <p:spPr>
              <a:xfrm>
                <a:off x="6960429" y="5026700"/>
                <a:ext cx="1753849" cy="7195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/>
                  <a:t>C</a:t>
                </a:r>
                <a:endParaRPr lang="en-IN" dirty="0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6565692" y="4047346"/>
                <a:ext cx="884419" cy="9793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/>
            <p:cNvCxnSpPr/>
            <p:nvPr/>
          </p:nvCxnSpPr>
          <p:spPr>
            <a:xfrm flipH="1">
              <a:off x="5006714" y="4068581"/>
              <a:ext cx="557140" cy="10005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>
            <a:off x="5159114" y="5788691"/>
            <a:ext cx="1753849" cy="719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5159114" y="4559507"/>
            <a:ext cx="404738" cy="1229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658131" y="4517037"/>
            <a:ext cx="791980" cy="1274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16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inheritance in java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Code Reusability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 Method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Overriding.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44" y="149895"/>
            <a:ext cx="1828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8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12794</TotalTime>
  <Words>2310</Words>
  <Application>Microsoft Office PowerPoint</Application>
  <PresentationFormat>Widescreen</PresentationFormat>
  <Paragraphs>602</Paragraphs>
  <Slides>73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Calibri</vt:lpstr>
      <vt:lpstr>Calibri Light</vt:lpstr>
      <vt:lpstr>Times New Roman</vt:lpstr>
      <vt:lpstr>urw-din</vt:lpstr>
      <vt:lpstr>Office Theme</vt:lpstr>
      <vt:lpstr>Class and Object </vt:lpstr>
      <vt:lpstr>Class</vt:lpstr>
      <vt:lpstr>Cont…</vt:lpstr>
      <vt:lpstr>Objects</vt:lpstr>
      <vt:lpstr>Cont…</vt:lpstr>
      <vt:lpstr>Constructors in Java</vt:lpstr>
      <vt:lpstr>Cont…</vt:lpstr>
      <vt:lpstr>Rules for creating Java constructor </vt:lpstr>
      <vt:lpstr>Types of Java Constructors </vt:lpstr>
      <vt:lpstr>1. Default Constructor. </vt:lpstr>
      <vt:lpstr>Cont…</vt:lpstr>
      <vt:lpstr>Example</vt:lpstr>
      <vt:lpstr>2. No-argument Constructor. </vt:lpstr>
      <vt:lpstr>Example</vt:lpstr>
      <vt:lpstr>3. Parameterized Constructor</vt:lpstr>
      <vt:lpstr>Example</vt:lpstr>
      <vt:lpstr>Cont…</vt:lpstr>
      <vt:lpstr> Difference between constructor and method in Java </vt:lpstr>
      <vt:lpstr>Ways to initialize object: </vt:lpstr>
      <vt:lpstr>1) Initializing an Object by reference variable  </vt:lpstr>
      <vt:lpstr>Example</vt:lpstr>
      <vt:lpstr>2) Initializing an Object by method</vt:lpstr>
      <vt:lpstr>Example</vt:lpstr>
      <vt:lpstr>Cont…</vt:lpstr>
      <vt:lpstr>3) Initializing an Object by a constructor </vt:lpstr>
      <vt:lpstr>Example</vt:lpstr>
      <vt:lpstr>Cont…</vt:lpstr>
      <vt:lpstr>Java static keyword </vt:lpstr>
      <vt:lpstr>Cont…</vt:lpstr>
      <vt:lpstr>1) Java static variable </vt:lpstr>
      <vt:lpstr>Cont…</vt:lpstr>
      <vt:lpstr>Advantage of static variable </vt:lpstr>
      <vt:lpstr>Example: Understanding the problem without static variable </vt:lpstr>
      <vt:lpstr>Cont…</vt:lpstr>
      <vt:lpstr>Example of static variable </vt:lpstr>
      <vt:lpstr>Cont…</vt:lpstr>
      <vt:lpstr>2) Java static method </vt:lpstr>
      <vt:lpstr>Restrictions for the static method </vt:lpstr>
      <vt:lpstr>Example of static method</vt:lpstr>
      <vt:lpstr>Cont…</vt:lpstr>
      <vt:lpstr>3) Java static block </vt:lpstr>
      <vt:lpstr>Example of static block</vt:lpstr>
      <vt:lpstr>Cont…</vt:lpstr>
      <vt:lpstr>this keyword in java </vt:lpstr>
      <vt:lpstr>Usage of java this keyword</vt:lpstr>
      <vt:lpstr>1) this: to refer current class instance variable  </vt:lpstr>
      <vt:lpstr>Example: Problem without this keyword </vt:lpstr>
      <vt:lpstr>Cont…</vt:lpstr>
      <vt:lpstr>Ex: Solution of Previous Problem with this keyword </vt:lpstr>
      <vt:lpstr>Cont…</vt:lpstr>
      <vt:lpstr>2) this() : to call current class constructor</vt:lpstr>
      <vt:lpstr>Example 1</vt:lpstr>
      <vt:lpstr>Cont…</vt:lpstr>
      <vt:lpstr>Inheritance in Java </vt:lpstr>
      <vt:lpstr>Cont…</vt:lpstr>
      <vt:lpstr>Types of inheritance in java </vt:lpstr>
      <vt:lpstr>1. Single Inheritance </vt:lpstr>
      <vt:lpstr>Example</vt:lpstr>
      <vt:lpstr>Cont…</vt:lpstr>
      <vt:lpstr>Multilevel Inheritance </vt:lpstr>
      <vt:lpstr>Cont…</vt:lpstr>
      <vt:lpstr>Example</vt:lpstr>
      <vt:lpstr>Cont…</vt:lpstr>
      <vt:lpstr>Cont…</vt:lpstr>
      <vt:lpstr>Hierarchical Inheritance </vt:lpstr>
      <vt:lpstr>Example</vt:lpstr>
      <vt:lpstr>Cont…</vt:lpstr>
      <vt:lpstr>Cont…</vt:lpstr>
      <vt:lpstr>Multiple Inheritance</vt:lpstr>
      <vt:lpstr>Cont…</vt:lpstr>
      <vt:lpstr>Hybrid inheritance</vt:lpstr>
      <vt:lpstr>Cont…</vt:lpstr>
      <vt:lpstr>Why use inheritance in java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and Object</dc:title>
  <dc:creator>Windows User</dc:creator>
  <cp:lastModifiedBy>PC</cp:lastModifiedBy>
  <cp:revision>105</cp:revision>
  <dcterms:created xsi:type="dcterms:W3CDTF">2021-04-05T05:29:07Z</dcterms:created>
  <dcterms:modified xsi:type="dcterms:W3CDTF">2024-02-20T07:57:24Z</dcterms:modified>
</cp:coreProperties>
</file>